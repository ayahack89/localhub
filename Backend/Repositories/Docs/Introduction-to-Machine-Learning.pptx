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orben" panose="020B0604020202020204" charset="0"/>
      <p:regular r:id="rId12"/>
    </p:embeddedFont>
    <p:embeddedFont>
      <p:font typeface="Nobile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0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7885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89" y="19128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Introduction to Machine Learning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88" y="381047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Machine learning (ML) is a type of artificial intelligence (AI) that allows computers to learn and improve from experience without being explicitly programmed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48401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280190" y="5652136"/>
            <a:ext cx="4078010" cy="93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Aptos" panose="020B0004020202020204" pitchFamily="34" charset="0"/>
                <a:ea typeface="MS UI Gothic" panose="020B0600070205080204" pitchFamily="34" charset="-128"/>
                <a:cs typeface="Nobile Bold" pitchFamily="34" charset="-120"/>
              </a:rPr>
              <a:t>by AYANABHA CHATTERJEE</a:t>
            </a:r>
          </a:p>
          <a:p>
            <a:pPr marL="0" indent="0" algn="l">
              <a:lnSpc>
                <a:spcPts val="3100"/>
              </a:lnSpc>
              <a:buNone/>
            </a:pPr>
            <a:endParaRPr lang="en-US" dirty="0">
              <a:latin typeface="Aptos" panose="020B0004020202020204" pitchFamily="34" charset="0"/>
              <a:ea typeface="MS UI Gothic" panose="020B0600070205080204" pitchFamily="34" charset="-12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A0AFFC-BECF-6192-6940-9A46ABE2288C}"/>
              </a:ext>
            </a:extLst>
          </p:cNvPr>
          <p:cNvSpPr/>
          <p:nvPr/>
        </p:nvSpPr>
        <p:spPr>
          <a:xfrm>
            <a:off x="12760036" y="7647709"/>
            <a:ext cx="1766455" cy="58189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17382"/>
            <a:ext cx="73560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What is Machine Learning?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12147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98696" y="5206484"/>
            <a:ext cx="1004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5121473"/>
            <a:ext cx="3459242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Machine learning uses algorithms and models to help systems learn from data and perform tasks without rule-based programming.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216962" y="512147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83411" y="5206484"/>
            <a:ext cx="17740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5954078" y="5121473"/>
            <a:ext cx="3459242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ML algorithms identify patterns in data to make predictions, classifications, and decisions, improving with more data.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9640133" y="512147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99677" y="5206484"/>
            <a:ext cx="19109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10377249" y="5121473"/>
            <a:ext cx="3459242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Machine learning automates model building, enabling systems to adapt to new data without human input.</a:t>
            </a:r>
            <a:endParaRPr lang="en-US" sz="22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AE835F2-2DB3-357A-2D60-CE337DE6246A}"/>
              </a:ext>
            </a:extLst>
          </p:cNvPr>
          <p:cNvSpPr/>
          <p:nvPr/>
        </p:nvSpPr>
        <p:spPr>
          <a:xfrm>
            <a:off x="12760036" y="7647709"/>
            <a:ext cx="1766455" cy="58189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126753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Traditional Programming vs. Machine Learning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34187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Traditional Programming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Relies on explicit, rule-based instructions provided by developers to solve problems.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Machine Learning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Learns from data to identify patterns and make predictions, without being explicitly programmed.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Difference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ML systems adapt and improve automatically, while traditional programs require manual updates by developers.</a:t>
            </a:r>
            <a:endParaRPr lang="en-US" sz="175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596021-2109-0278-23FC-F5C212A32884}"/>
              </a:ext>
            </a:extLst>
          </p:cNvPr>
          <p:cNvSpPr/>
          <p:nvPr/>
        </p:nvSpPr>
        <p:spPr>
          <a:xfrm>
            <a:off x="12760036" y="7647709"/>
            <a:ext cx="1766455" cy="58189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289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0085" y="2963585"/>
            <a:ext cx="6977420" cy="607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50"/>
              </a:lnSpc>
              <a:buNone/>
            </a:pPr>
            <a:r>
              <a:rPr lang="en-US" sz="38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Machine Learning Process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80085" y="5778579"/>
            <a:ext cx="13270230" cy="22860"/>
          </a:xfrm>
          <a:prstGeom prst="roundRect">
            <a:avLst>
              <a:gd name="adj" fmla="val 357030"/>
            </a:avLst>
          </a:prstGeom>
          <a:solidFill>
            <a:srgbClr val="B8BFDF"/>
          </a:solidFill>
          <a:ln/>
        </p:spPr>
      </p:sp>
      <p:sp>
        <p:nvSpPr>
          <p:cNvPr id="5" name="Shape 2"/>
          <p:cNvSpPr/>
          <p:nvPr/>
        </p:nvSpPr>
        <p:spPr>
          <a:xfrm>
            <a:off x="3937635" y="5098494"/>
            <a:ext cx="22860" cy="680085"/>
          </a:xfrm>
          <a:prstGeom prst="roundRect">
            <a:avLst>
              <a:gd name="adj" fmla="val 357030"/>
            </a:avLst>
          </a:prstGeom>
          <a:solidFill>
            <a:srgbClr val="B8BFDF"/>
          </a:solidFill>
          <a:ln/>
        </p:spPr>
      </p:sp>
      <p:sp>
        <p:nvSpPr>
          <p:cNvPr id="6" name="Shape 3"/>
          <p:cNvSpPr/>
          <p:nvPr/>
        </p:nvSpPr>
        <p:spPr>
          <a:xfrm>
            <a:off x="3730466" y="5559981"/>
            <a:ext cx="437198" cy="437198"/>
          </a:xfrm>
          <a:prstGeom prst="roundRect">
            <a:avLst>
              <a:gd name="adj" fmla="val 18668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05964" y="5632847"/>
            <a:ext cx="86201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2734508" y="3862268"/>
            <a:ext cx="2428994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Collection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74395" y="4282440"/>
            <a:ext cx="6149340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Gathering and preparing the relevant data needed to train the machine learning model.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03770" y="5778579"/>
            <a:ext cx="22860" cy="680085"/>
          </a:xfrm>
          <a:prstGeom prst="roundRect">
            <a:avLst>
              <a:gd name="adj" fmla="val 357030"/>
            </a:avLst>
          </a:prstGeom>
          <a:solidFill>
            <a:srgbClr val="B8BFDF"/>
          </a:solidFill>
          <a:ln/>
        </p:spPr>
      </p:sp>
      <p:sp>
        <p:nvSpPr>
          <p:cNvPr id="11" name="Shape 8"/>
          <p:cNvSpPr/>
          <p:nvPr/>
        </p:nvSpPr>
        <p:spPr>
          <a:xfrm>
            <a:off x="7096601" y="5559981"/>
            <a:ext cx="437198" cy="437198"/>
          </a:xfrm>
          <a:prstGeom prst="roundRect">
            <a:avLst>
              <a:gd name="adj" fmla="val 18668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39119" y="5632847"/>
            <a:ext cx="152043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6100643" y="6652974"/>
            <a:ext cx="2428994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Model Training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240530" y="7073146"/>
            <a:ext cx="6149340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Applying machine learning algorithms to the data to build and optimize the predictive model.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669905" y="5098494"/>
            <a:ext cx="22860" cy="680085"/>
          </a:xfrm>
          <a:prstGeom prst="roundRect">
            <a:avLst>
              <a:gd name="adj" fmla="val 357030"/>
            </a:avLst>
          </a:prstGeom>
          <a:solidFill>
            <a:srgbClr val="B8BFDF"/>
          </a:solidFill>
          <a:ln/>
        </p:spPr>
      </p:sp>
      <p:sp>
        <p:nvSpPr>
          <p:cNvPr id="16" name="Shape 13"/>
          <p:cNvSpPr/>
          <p:nvPr/>
        </p:nvSpPr>
        <p:spPr>
          <a:xfrm>
            <a:off x="10462736" y="5559981"/>
            <a:ext cx="437198" cy="437198"/>
          </a:xfrm>
          <a:prstGeom prst="roundRect">
            <a:avLst>
              <a:gd name="adj" fmla="val 18668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99420" y="5632847"/>
            <a:ext cx="163711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9466778" y="3862268"/>
            <a:ext cx="2428994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Model Deployment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606665" y="4282440"/>
            <a:ext cx="6149340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Integrating the trained model into real-world applications to make predictions and drive decisions.</a:t>
            </a:r>
            <a:endParaRPr lang="en-US" sz="15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E9B30C3-8D42-59BF-F37F-C982B273B4EC}"/>
              </a:ext>
            </a:extLst>
          </p:cNvPr>
          <p:cNvSpPr/>
          <p:nvPr/>
        </p:nvSpPr>
        <p:spPr>
          <a:xfrm>
            <a:off x="12760036" y="7647709"/>
            <a:ext cx="1766455" cy="58189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10320"/>
            <a:ext cx="71539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Types of Machine Learning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59261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8936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Supervised Learning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384113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Algorithms that learn from labeled training data to make predictions or decisions.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659261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2893695"/>
            <a:ext cx="31457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Unsupervised Learning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3384113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Algorithms that discover hidden patterns and structures in unlabeled data.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934069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168503"/>
            <a:ext cx="32598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Reinforcement Learning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5658922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Algorithms that learn by trial-and-error, maximizing a reward signal from the environment.</a:t>
            </a:r>
            <a:endParaRPr lang="en-US" sz="175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CBD770E-5116-5BA3-EDDC-BF953C44E407}"/>
              </a:ext>
            </a:extLst>
          </p:cNvPr>
          <p:cNvSpPr/>
          <p:nvPr/>
        </p:nvSpPr>
        <p:spPr>
          <a:xfrm>
            <a:off x="12760036" y="7647709"/>
            <a:ext cx="1766455" cy="58189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3657" y="636865"/>
            <a:ext cx="7735967" cy="610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38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Applications of Machine Learning</a:t>
            </a:r>
            <a:endParaRPr lang="en-US" sz="3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57" y="1540312"/>
            <a:ext cx="488275" cy="4882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3657" y="2223849"/>
            <a:ext cx="2441734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Computer Vision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683657" y="2646164"/>
            <a:ext cx="777668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Identify and classify objects, faces, and scenes in digital images and videos.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57" y="3544729"/>
            <a:ext cx="488275" cy="4882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3657" y="4228267"/>
            <a:ext cx="3383637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Natural Language Processing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683657" y="4650581"/>
            <a:ext cx="7776686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Analyze, understand, and generate human language for tasks like translation and sentiment analysis.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657" y="5861685"/>
            <a:ext cx="488275" cy="4882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3657" y="6545223"/>
            <a:ext cx="2441734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Predictive Analytics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683657" y="6967538"/>
            <a:ext cx="7776686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Forecast future trends and behaviors to optimize business strategies and decision-making.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129248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Advantages and Challenges of Machine Learning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995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Automates complex tasks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215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Improves with more data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64348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Identifies hidden insights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32928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Challenges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2928" y="437995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Requires large datasets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332928" y="482215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Potential for bias and errors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32928" y="5264348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Interpretability issues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872067" y="3798808"/>
            <a:ext cx="34435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Responsible Development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2067" y="4379952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Addressing challenges through ethical AI practices and human-centered design.</a:t>
            </a:r>
            <a:endParaRPr lang="en-US" sz="175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6DCC483-658C-D316-E5A9-EA07F573B587}"/>
              </a:ext>
            </a:extLst>
          </p:cNvPr>
          <p:cNvSpPr/>
          <p:nvPr/>
        </p:nvSpPr>
        <p:spPr>
          <a:xfrm>
            <a:off x="12760036" y="7647709"/>
            <a:ext cx="1766455" cy="58189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9473" y="608290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Future of Machine Learning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473" y="2319933"/>
            <a:ext cx="1104424" cy="17671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95128" y="2540794"/>
            <a:ext cx="3356491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Continued Advancements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695128" y="3018353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Breakthroughs in algorithms, hardware, and data availability will drive rapid progress.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473" y="4087058"/>
            <a:ext cx="1104424" cy="17671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95128" y="4307919"/>
            <a:ext cx="2840474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Widespread Adoption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695128" y="4785479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Machine learning will become ubiquitous across industries, powering innovative applications.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473" y="5854184"/>
            <a:ext cx="1104424" cy="17671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95128" y="6075045"/>
            <a:ext cx="2967514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Ethical Considerations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695128" y="6552605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Ensuring machine learning is developed and deployed responsibly to benefit society.</a:t>
            </a:r>
            <a:endParaRPr lang="en-US" sz="17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94E00C3-44C2-3EB3-69BA-432A88C7283C}"/>
              </a:ext>
            </a:extLst>
          </p:cNvPr>
          <p:cNvSpPr/>
          <p:nvPr/>
        </p:nvSpPr>
        <p:spPr>
          <a:xfrm>
            <a:off x="12760036" y="7647709"/>
            <a:ext cx="1766455" cy="58189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DB1940-FC43-D7C0-29CC-31693290C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8"/>
            <a:ext cx="14635716" cy="822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763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409</Words>
  <Application>Microsoft Office PowerPoint</Application>
  <PresentationFormat>Custom</PresentationFormat>
  <Paragraphs>67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Corben</vt:lpstr>
      <vt:lpstr>Aptos</vt:lpstr>
      <vt:lpstr>Nobile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Mr. X</cp:lastModifiedBy>
  <cp:revision>3</cp:revision>
  <dcterms:created xsi:type="dcterms:W3CDTF">2024-11-24T16:52:12Z</dcterms:created>
  <dcterms:modified xsi:type="dcterms:W3CDTF">2025-05-24T09:04:17Z</dcterms:modified>
</cp:coreProperties>
</file>